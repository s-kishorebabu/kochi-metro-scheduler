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989"/>
    <a:srgbClr val="B2DF41"/>
    <a:srgbClr val="E5D13B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70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91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4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426372"/>
            <a:ext cx="11457591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25081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dirty="0"/>
              <a:t>AI-Driven Train Induction Planning &amp; Scheduling for Kochi Metro Rail Limited (KMRL)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dirty="0"/>
              <a:t>Smart Automation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ID-s7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305465-715F-13A7-6D14-1A03C84CBEA2}"/>
              </a:ext>
            </a:extLst>
          </p:cNvPr>
          <p:cNvSpPr txBox="1"/>
          <p:nvPr/>
        </p:nvSpPr>
        <p:spPr>
          <a:xfrm>
            <a:off x="343028" y="548588"/>
            <a:ext cx="23411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Rockwell Condensed" panose="02060603050405020104" pitchFamily="18" charset="0"/>
              </a:rPr>
              <a:t>Tech Mavericks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F48D6B-2F25-2F4E-679A-0C2A2DA4ABAC}"/>
              </a:ext>
            </a:extLst>
          </p:cNvPr>
          <p:cNvSpPr txBox="1">
            <a:spLocks/>
          </p:cNvSpPr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B635AFB3-1ACD-44AC-8702-86B1729DF03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92753-3F30-66CE-4E15-CE5F525E0EE9}"/>
              </a:ext>
            </a:extLst>
          </p:cNvPr>
          <p:cNvSpPr txBox="1"/>
          <p:nvPr/>
        </p:nvSpPr>
        <p:spPr>
          <a:xfrm>
            <a:off x="599769" y="1196362"/>
            <a:ext cx="72376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Proposed Solution</a:t>
            </a:r>
          </a:p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dirty="0"/>
              <a:t>A single AI-powered dashboard that automates train induction decisions</a:t>
            </a:r>
          </a:p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dirty="0"/>
              <a:t>Replaces manual, error-prone processes with data-driven optimization</a:t>
            </a:r>
          </a:p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dirty="0"/>
              <a:t>Considers all 6 key factors: fitness, job-cards, branding, mileage, cleaning, stabling</a:t>
            </a:r>
          </a:p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dirty="0"/>
              <a:t>Provides ranked induction list with explainable reasons (</a:t>
            </a:r>
            <a:r>
              <a:rPr lang="en-IN" dirty="0"/>
              <a:t>Suitability Score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b="1" dirty="0"/>
              <a:t>Innovation &amp; Uniqueness</a:t>
            </a:r>
          </a:p>
          <a:p>
            <a:endParaRPr lang="en-US" dirty="0"/>
          </a:p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dirty="0"/>
              <a:t>Holistic approach – balances operational safety, cost, branding, and reliability</a:t>
            </a:r>
          </a:p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dirty="0"/>
              <a:t>Scalable system – works for today’s 25 trains, expandable to 40+ trains and 2 depots</a:t>
            </a:r>
          </a:p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dirty="0"/>
              <a:t>Explainable AI – shows exactly why a train is included/excluded</a:t>
            </a:r>
          </a:p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dirty="0"/>
              <a:t>Interactive Simulator – “What-If” feature to test scenarios instantly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C5DB7BB-37C9-E6D3-381A-D7926EBB9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0143" y="2262602"/>
            <a:ext cx="424242" cy="42424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A8D46F8-944F-D3EB-2103-07E2AA17D6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4978" y="2281199"/>
            <a:ext cx="361497" cy="36149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C7BC69D-1828-9E5E-8979-19CAE931CA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3588" y="1284966"/>
            <a:ext cx="451973" cy="45197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29ECAB8-6219-FA7B-7338-EBC58F2BA4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4574" y="2148752"/>
            <a:ext cx="509254" cy="50925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0285E84-2228-5827-9716-E20D735131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67019" y="1548659"/>
            <a:ext cx="376560" cy="3765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E2226EC-935F-6868-5ACE-FD362F25C3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90194" y="1240562"/>
            <a:ext cx="390365" cy="39036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70BFD6B-B61C-A0C3-D37C-F9F2BE3BFC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8290" y="1237082"/>
            <a:ext cx="506000" cy="5060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AD7EAD9-F9B2-7FF6-D115-95090E9F88B6}"/>
              </a:ext>
            </a:extLst>
          </p:cNvPr>
          <p:cNvSpPr txBox="1"/>
          <p:nvPr/>
        </p:nvSpPr>
        <p:spPr>
          <a:xfrm>
            <a:off x="9856648" y="1691812"/>
            <a:ext cx="1109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Fitness Certificate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E9B6FC-7BE1-E7A3-71FE-5EAF17EAE048}"/>
              </a:ext>
            </a:extLst>
          </p:cNvPr>
          <p:cNvSpPr txBox="1"/>
          <p:nvPr/>
        </p:nvSpPr>
        <p:spPr>
          <a:xfrm>
            <a:off x="8621186" y="2638214"/>
            <a:ext cx="1109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Cleaning &amp; Detailing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330DA7-C905-7509-0719-4AA22788E339}"/>
              </a:ext>
            </a:extLst>
          </p:cNvPr>
          <p:cNvSpPr txBox="1"/>
          <p:nvPr/>
        </p:nvSpPr>
        <p:spPr>
          <a:xfrm>
            <a:off x="9892140" y="2681007"/>
            <a:ext cx="1109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Mileage Balancing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6C1AFE-BCF7-3C81-C23B-4F49E596BFE2}"/>
              </a:ext>
            </a:extLst>
          </p:cNvPr>
          <p:cNvSpPr txBox="1"/>
          <p:nvPr/>
        </p:nvSpPr>
        <p:spPr>
          <a:xfrm>
            <a:off x="8552775" y="1658283"/>
            <a:ext cx="1109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Branding Priorities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990438-C8DB-FB6B-6B8A-E72D061A32C6}"/>
              </a:ext>
            </a:extLst>
          </p:cNvPr>
          <p:cNvSpPr txBox="1"/>
          <p:nvPr/>
        </p:nvSpPr>
        <p:spPr>
          <a:xfrm>
            <a:off x="11140362" y="1865734"/>
            <a:ext cx="1109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Job Cards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DA03F2-EF81-9B6C-4845-4AB5D5AD1723}"/>
              </a:ext>
            </a:extLst>
          </p:cNvPr>
          <p:cNvSpPr txBox="1"/>
          <p:nvPr/>
        </p:nvSpPr>
        <p:spPr>
          <a:xfrm>
            <a:off x="11099802" y="2631992"/>
            <a:ext cx="1109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Depot bay positions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CA70F9-75E6-F105-D3A4-DC38331CCA16}"/>
              </a:ext>
            </a:extLst>
          </p:cNvPr>
          <p:cNvSpPr txBox="1"/>
          <p:nvPr/>
        </p:nvSpPr>
        <p:spPr>
          <a:xfrm>
            <a:off x="8636812" y="859051"/>
            <a:ext cx="1114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6 Factors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B530FF2-6545-11B8-F950-BA5C8DEACED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52775" y="3193523"/>
            <a:ext cx="3474208" cy="179827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18C17DA-DC3B-B600-116C-75BA328858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3010" y="4991802"/>
            <a:ext cx="3283973" cy="16890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0569F6-FF0F-CF11-54AD-F3105E72295A}"/>
              </a:ext>
            </a:extLst>
          </p:cNvPr>
          <p:cNvSpPr txBox="1"/>
          <p:nvPr/>
        </p:nvSpPr>
        <p:spPr>
          <a:xfrm>
            <a:off x="343028" y="-93455"/>
            <a:ext cx="23411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Rockwell Condensed" panose="02060603050405020104" pitchFamily="18" charset="0"/>
              </a:rPr>
              <a:t>Tech Mavericks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DE201B3-B5DB-EA9E-1D10-70F0DA9657FF}"/>
              </a:ext>
            </a:extLst>
          </p:cNvPr>
          <p:cNvSpPr txBox="1"/>
          <p:nvPr/>
        </p:nvSpPr>
        <p:spPr>
          <a:xfrm>
            <a:off x="7450785" y="1029004"/>
            <a:ext cx="457580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1. Data Ingestion: </a:t>
            </a:r>
            <a:r>
              <a:rPr lang="en-US" sz="1600" dirty="0"/>
              <a:t>A </a:t>
            </a:r>
            <a:r>
              <a:rPr lang="en-US" sz="1600" u="sng" dirty="0"/>
              <a:t>Python script </a:t>
            </a:r>
            <a:r>
              <a:rPr lang="en-US" sz="1600" dirty="0"/>
              <a:t>auto-fetch and unifies data from various files (CSVs, spreadsheets) into a clean, consistent format.</a:t>
            </a:r>
          </a:p>
          <a:p>
            <a:endParaRPr lang="en-US" sz="1600" dirty="0"/>
          </a:p>
          <a:p>
            <a:r>
              <a:rPr lang="en-US" sz="1600" b="1" dirty="0"/>
              <a:t>2. Data Storage: </a:t>
            </a:r>
            <a:r>
              <a:rPr lang="en-US" sz="1600" u="sng" dirty="0"/>
              <a:t>PostgreSQL database</a:t>
            </a:r>
          </a:p>
          <a:p>
            <a:endParaRPr lang="en-US" sz="1600" dirty="0"/>
          </a:p>
          <a:p>
            <a:r>
              <a:rPr lang="en-US" sz="1600" b="1" dirty="0"/>
              <a:t>3. Backend API: </a:t>
            </a:r>
            <a:r>
              <a:rPr lang="en-US" sz="1600" dirty="0"/>
              <a:t>A Spring Boot server queries the database and runs the optimization logic. </a:t>
            </a:r>
            <a:r>
              <a:rPr lang="en-US" sz="1600" u="sng" dirty="0"/>
              <a:t>REST API </a:t>
            </a:r>
            <a:r>
              <a:rPr lang="en-US" sz="1600" dirty="0"/>
              <a:t>for the frontend.</a:t>
            </a:r>
          </a:p>
          <a:p>
            <a:endParaRPr lang="en-US" sz="1600" dirty="0"/>
          </a:p>
          <a:p>
            <a:r>
              <a:rPr lang="en-US" sz="1600" b="1" dirty="0"/>
              <a:t>4. AI Optimization Engine:</a:t>
            </a:r>
            <a:r>
              <a:rPr lang="en-US" sz="1600" dirty="0"/>
              <a:t> this engine first uses a Hard Constraint Filter to remove ineligible trains, then uses a </a:t>
            </a:r>
            <a:r>
              <a:rPr lang="en-US" sz="1600" u="sng" dirty="0"/>
              <a:t>Weighted Sum Model (WSM)</a:t>
            </a:r>
            <a:r>
              <a:rPr lang="en-US" sz="1600" dirty="0"/>
              <a:t>to score and rank the remaining candidates based on business priorities.</a:t>
            </a:r>
          </a:p>
          <a:p>
            <a:endParaRPr lang="en-US" sz="1600" dirty="0"/>
          </a:p>
          <a:p>
            <a:r>
              <a:rPr lang="en-US" sz="1600" b="1" dirty="0"/>
              <a:t>5. Frontend Dashboard: </a:t>
            </a:r>
            <a:r>
              <a:rPr lang="en-US" sz="1600" u="sng" dirty="0"/>
              <a:t>A React.js </a:t>
            </a:r>
            <a:r>
              <a:rPr lang="en-US" sz="1600" dirty="0"/>
              <a:t>single-page application calls the backend API and displays the final ranked list with explanations on dashboard.</a:t>
            </a:r>
            <a:endParaRPr lang="en-IN" sz="160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1ED971D-B9F0-155B-7047-3037587AF2AC}"/>
              </a:ext>
            </a:extLst>
          </p:cNvPr>
          <p:cNvSpPr/>
          <p:nvPr/>
        </p:nvSpPr>
        <p:spPr>
          <a:xfrm>
            <a:off x="215657" y="3259116"/>
            <a:ext cx="7092649" cy="2064621"/>
          </a:xfrm>
          <a:prstGeom prst="rect">
            <a:avLst/>
          </a:prstGeom>
          <a:noFill/>
          <a:ln w="28575"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46C8308-A3C0-3168-09EF-F6BA1C92F625}"/>
              </a:ext>
            </a:extLst>
          </p:cNvPr>
          <p:cNvSpPr txBox="1"/>
          <p:nvPr/>
        </p:nvSpPr>
        <p:spPr>
          <a:xfrm>
            <a:off x="144092" y="2912187"/>
            <a:ext cx="2556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AI Optimization Engine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3089B6D-8CD7-89F0-E603-C1B320F309BD}"/>
              </a:ext>
            </a:extLst>
          </p:cNvPr>
          <p:cNvSpPr txBox="1"/>
          <p:nvPr/>
        </p:nvSpPr>
        <p:spPr>
          <a:xfrm>
            <a:off x="302320" y="3325596"/>
            <a:ext cx="25889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u="sng" dirty="0"/>
              <a:t>Hard Constraints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D51505AD-39CB-0FD6-FE57-4663B91B5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349" y="3702144"/>
            <a:ext cx="261890" cy="26189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8B1B09FA-1446-CC78-A511-125DF510E5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349" y="4254612"/>
            <a:ext cx="224395" cy="224395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D0C71DED-4B01-BBE9-DE38-B655535A15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618" y="4073451"/>
            <a:ext cx="232621" cy="232621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DBA4AF40-B203-EB2B-EE9D-10E4FFBDE3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413" y="4545304"/>
            <a:ext cx="366265" cy="366265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1749B7C4-84C3-4051-716C-A618A1C7E2B9}"/>
              </a:ext>
            </a:extLst>
          </p:cNvPr>
          <p:cNvSpPr txBox="1"/>
          <p:nvPr/>
        </p:nvSpPr>
        <p:spPr>
          <a:xfrm>
            <a:off x="680792" y="3711644"/>
            <a:ext cx="16592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Fitness Certificate (0/1)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845B35A-3BD4-2DA3-6DDB-60B6B20D1390}"/>
              </a:ext>
            </a:extLst>
          </p:cNvPr>
          <p:cNvSpPr txBox="1"/>
          <p:nvPr/>
        </p:nvSpPr>
        <p:spPr>
          <a:xfrm>
            <a:off x="688033" y="4152183"/>
            <a:ext cx="11899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Job Cards (0/1)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8E86BC5-002E-137A-0807-DF5FF6CA60BA}"/>
              </a:ext>
            </a:extLst>
          </p:cNvPr>
          <p:cNvSpPr txBox="1"/>
          <p:nvPr/>
        </p:nvSpPr>
        <p:spPr>
          <a:xfrm>
            <a:off x="677056" y="4599718"/>
            <a:ext cx="1189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Cleaning &amp; Detailing (0/1)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0047500-4574-A73F-9919-F69EA104AE61}"/>
              </a:ext>
            </a:extLst>
          </p:cNvPr>
          <p:cNvSpPr/>
          <p:nvPr/>
        </p:nvSpPr>
        <p:spPr>
          <a:xfrm>
            <a:off x="2772571" y="3434008"/>
            <a:ext cx="261890" cy="16421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scene3d>
            <a:camera prst="orthographicFront">
              <a:rot lat="0" lon="0" rev="0"/>
            </a:camera>
            <a:lightRig rig="threePt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5400000"/>
              </a:camera>
              <a:lightRig rig="threePt" dir="t"/>
            </a:scene3d>
          </a:bodyPr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Filter Eligible Trains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CF7CEFC-4CBA-F6EF-D40F-B1EF1E0E6F68}"/>
              </a:ext>
            </a:extLst>
          </p:cNvPr>
          <p:cNvCxnSpPr>
            <a:cxnSpLocks/>
            <a:stCxn id="87" idx="3"/>
            <a:endCxn id="92" idx="1"/>
          </p:cNvCxnSpPr>
          <p:nvPr/>
        </p:nvCxnSpPr>
        <p:spPr>
          <a:xfrm>
            <a:off x="2340077" y="3850144"/>
            <a:ext cx="432494" cy="4049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C426F9E6-AA3B-024B-5773-8FA2800A2D25}"/>
              </a:ext>
            </a:extLst>
          </p:cNvPr>
          <p:cNvCxnSpPr>
            <a:cxnSpLocks/>
            <a:stCxn id="88" idx="3"/>
            <a:endCxn id="92" idx="1"/>
          </p:cNvCxnSpPr>
          <p:nvPr/>
        </p:nvCxnSpPr>
        <p:spPr>
          <a:xfrm flipV="1">
            <a:off x="1877961" y="4255091"/>
            <a:ext cx="894610" cy="35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BBBDB24F-0109-0FEF-9B94-3AF12FC52FFC}"/>
              </a:ext>
            </a:extLst>
          </p:cNvPr>
          <p:cNvCxnSpPr>
            <a:cxnSpLocks/>
            <a:stCxn id="89" idx="3"/>
          </p:cNvCxnSpPr>
          <p:nvPr/>
        </p:nvCxnSpPr>
        <p:spPr>
          <a:xfrm flipV="1">
            <a:off x="1866984" y="4300005"/>
            <a:ext cx="833495" cy="5305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14644888-B564-AB31-7362-E6CCDC53CBF6}"/>
              </a:ext>
            </a:extLst>
          </p:cNvPr>
          <p:cNvSpPr txBox="1"/>
          <p:nvPr/>
        </p:nvSpPr>
        <p:spPr>
          <a:xfrm>
            <a:off x="4936834" y="3401768"/>
            <a:ext cx="25889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u="sng" dirty="0"/>
              <a:t>Soft Constraint Scoring Model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87E6D708-26E9-9691-0EDC-0246B3F3FEC1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3034461" y="4255091"/>
            <a:ext cx="3506748" cy="44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9" name="Picture 108">
            <a:extLst>
              <a:ext uri="{FF2B5EF4-FFF2-40B4-BE49-F238E27FC236}">
                <a16:creationId xmlns:a16="http://schemas.microsoft.com/office/drawing/2014/main" id="{997596FC-0E2A-4AED-92C5-3DF6B87D51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3452" y="4754338"/>
            <a:ext cx="362207" cy="362207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3CE21510-ADE7-7AFF-A52F-D05AD6922BE3}"/>
              </a:ext>
            </a:extLst>
          </p:cNvPr>
          <p:cNvSpPr txBox="1"/>
          <p:nvPr/>
        </p:nvSpPr>
        <p:spPr>
          <a:xfrm>
            <a:off x="3419911" y="4710905"/>
            <a:ext cx="1235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u="sng" dirty="0"/>
              <a:t>Branding Priorities : </a:t>
            </a:r>
            <a:r>
              <a:rPr lang="en-IN" sz="1200" dirty="0"/>
              <a:t>weight = 0.5</a:t>
            </a:r>
            <a:endParaRPr lang="en-IN" sz="1200" b="1" u="sng" dirty="0"/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8938D90C-059C-3C9E-A849-555DEFF049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99837" y="3537295"/>
            <a:ext cx="361497" cy="361497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229CDCE2-B025-E205-F047-95D8B66489F6}"/>
              </a:ext>
            </a:extLst>
          </p:cNvPr>
          <p:cNvSpPr txBox="1"/>
          <p:nvPr/>
        </p:nvSpPr>
        <p:spPr>
          <a:xfrm>
            <a:off x="3561585" y="3588032"/>
            <a:ext cx="169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u="sng" dirty="0"/>
              <a:t>Mileage: </a:t>
            </a:r>
            <a:r>
              <a:rPr lang="en-IN" sz="1200" dirty="0"/>
              <a:t>weight = 0.3</a:t>
            </a:r>
            <a:endParaRPr lang="en-IN" sz="1200" b="1" u="sng" dirty="0"/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E40B4B79-1809-7841-3B0F-811830950D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1556" y="4836865"/>
            <a:ext cx="219928" cy="219928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5423E115-63A9-95E8-EE44-D5E7015071A3}"/>
              </a:ext>
            </a:extLst>
          </p:cNvPr>
          <p:cNvSpPr txBox="1"/>
          <p:nvPr/>
        </p:nvSpPr>
        <p:spPr>
          <a:xfrm>
            <a:off x="4648374" y="4728436"/>
            <a:ext cx="1382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u="sng" dirty="0"/>
              <a:t>Shunting : </a:t>
            </a:r>
            <a:r>
              <a:rPr lang="en-IN" sz="1200" dirty="0"/>
              <a:t>weight = 0.2</a:t>
            </a:r>
            <a:endParaRPr lang="en-IN" sz="1200" b="1" u="sng" dirty="0"/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0676DF62-22C0-5C18-3B95-85EEE57AD7A0}"/>
              </a:ext>
            </a:extLst>
          </p:cNvPr>
          <p:cNvCxnSpPr>
            <a:cxnSpLocks/>
          </p:cNvCxnSpPr>
          <p:nvPr/>
        </p:nvCxnSpPr>
        <p:spPr>
          <a:xfrm>
            <a:off x="4401957" y="3815331"/>
            <a:ext cx="8469" cy="441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6E771075-DE10-FC69-E219-3A43DC588D2D}"/>
              </a:ext>
            </a:extLst>
          </p:cNvPr>
          <p:cNvCxnSpPr>
            <a:cxnSpLocks/>
          </p:cNvCxnSpPr>
          <p:nvPr/>
        </p:nvCxnSpPr>
        <p:spPr>
          <a:xfrm flipH="1" flipV="1">
            <a:off x="3753560" y="4290682"/>
            <a:ext cx="1505" cy="4202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D087A2E2-DB5A-3445-8DA2-2573F555502D}"/>
              </a:ext>
            </a:extLst>
          </p:cNvPr>
          <p:cNvCxnSpPr>
            <a:cxnSpLocks/>
          </p:cNvCxnSpPr>
          <p:nvPr/>
        </p:nvCxnSpPr>
        <p:spPr>
          <a:xfrm flipH="1" flipV="1">
            <a:off x="5288331" y="4263989"/>
            <a:ext cx="1" cy="4644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2FB4D4BE-2838-4D85-4E3B-F96CF1A926A9}"/>
              </a:ext>
            </a:extLst>
          </p:cNvPr>
          <p:cNvSpPr txBox="1"/>
          <p:nvPr/>
        </p:nvSpPr>
        <p:spPr>
          <a:xfrm>
            <a:off x="5645249" y="4115339"/>
            <a:ext cx="69566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WSM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8FEC604-9797-9AB4-8FCD-D259E73D9E77}"/>
              </a:ext>
            </a:extLst>
          </p:cNvPr>
          <p:cNvSpPr txBox="1"/>
          <p:nvPr/>
        </p:nvSpPr>
        <p:spPr>
          <a:xfrm>
            <a:off x="6523155" y="4083639"/>
            <a:ext cx="848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Suitability Score</a:t>
            </a:r>
          </a:p>
        </p:txBody>
      </p:sp>
      <p:pic>
        <p:nvPicPr>
          <p:cNvPr id="143" name="Picture 142">
            <a:extLst>
              <a:ext uri="{FF2B5EF4-FFF2-40B4-BE49-F238E27FC236}">
                <a16:creationId xmlns:a16="http://schemas.microsoft.com/office/drawing/2014/main" id="{3AF61359-5884-EC5C-1702-0845D481899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37094" y="5439845"/>
            <a:ext cx="634921" cy="634921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51851281-F13E-FEAF-CE63-6C7361A1D99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1897" y="5547274"/>
            <a:ext cx="410859" cy="410859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79D40EE6-DCB8-22B3-0C14-DF503967408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52449" y="5493029"/>
            <a:ext cx="523682" cy="523682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AABB8FF6-2D82-EB0F-F29F-31B1D2DCDA4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58833" y="5489469"/>
            <a:ext cx="523682" cy="523682"/>
          </a:xfrm>
          <a:prstGeom prst="rect">
            <a:avLst/>
          </a:prstGeom>
        </p:spPr>
      </p:pic>
      <p:sp>
        <p:nvSpPr>
          <p:cNvPr id="150" name="TextBox 149">
            <a:extLst>
              <a:ext uri="{FF2B5EF4-FFF2-40B4-BE49-F238E27FC236}">
                <a16:creationId xmlns:a16="http://schemas.microsoft.com/office/drawing/2014/main" id="{36D43189-8D12-2D6A-C34B-C7559F742161}"/>
              </a:ext>
            </a:extLst>
          </p:cNvPr>
          <p:cNvSpPr txBox="1"/>
          <p:nvPr/>
        </p:nvSpPr>
        <p:spPr>
          <a:xfrm>
            <a:off x="-296114" y="6027383"/>
            <a:ext cx="2500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PostgreSQL database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128B280-9010-0BEF-77B1-8CF6DEFA9A2B}"/>
              </a:ext>
            </a:extLst>
          </p:cNvPr>
          <p:cNvSpPr txBox="1"/>
          <p:nvPr/>
        </p:nvSpPr>
        <p:spPr>
          <a:xfrm>
            <a:off x="3995677" y="6081462"/>
            <a:ext cx="1945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PostgreSQL database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2812638-C7C5-5DD8-9B46-84011FE6E6F7}"/>
              </a:ext>
            </a:extLst>
          </p:cNvPr>
          <p:cNvSpPr txBox="1"/>
          <p:nvPr/>
        </p:nvSpPr>
        <p:spPr>
          <a:xfrm>
            <a:off x="1808049" y="6102068"/>
            <a:ext cx="18699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AI Optimization Engine 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01407CD-107A-903E-F662-72770CB4E799}"/>
              </a:ext>
            </a:extLst>
          </p:cNvPr>
          <p:cNvSpPr txBox="1"/>
          <p:nvPr/>
        </p:nvSpPr>
        <p:spPr>
          <a:xfrm>
            <a:off x="6448601" y="6019509"/>
            <a:ext cx="1109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Dashboard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69B307D5-EC28-EB56-5E68-4E1F352A0660}"/>
              </a:ext>
            </a:extLst>
          </p:cNvPr>
          <p:cNvCxnSpPr>
            <a:stCxn id="145" idx="3"/>
            <a:endCxn id="149" idx="1"/>
          </p:cNvCxnSpPr>
          <p:nvPr/>
        </p:nvCxnSpPr>
        <p:spPr>
          <a:xfrm flipV="1">
            <a:off x="672756" y="5751310"/>
            <a:ext cx="1586077" cy="1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E3844052-BF0B-686D-4DC3-F5D42927C29B}"/>
              </a:ext>
            </a:extLst>
          </p:cNvPr>
          <p:cNvCxnSpPr>
            <a:stCxn id="149" idx="3"/>
            <a:endCxn id="146" idx="1"/>
          </p:cNvCxnSpPr>
          <p:nvPr/>
        </p:nvCxnSpPr>
        <p:spPr>
          <a:xfrm>
            <a:off x="2782515" y="5751310"/>
            <a:ext cx="1869934" cy="3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D78833DD-D552-26A7-5A05-A4EE97DA0193}"/>
              </a:ext>
            </a:extLst>
          </p:cNvPr>
          <p:cNvCxnSpPr>
            <a:stCxn id="146" idx="3"/>
            <a:endCxn id="143" idx="1"/>
          </p:cNvCxnSpPr>
          <p:nvPr/>
        </p:nvCxnSpPr>
        <p:spPr>
          <a:xfrm>
            <a:off x="5176131" y="5754870"/>
            <a:ext cx="1460963" cy="2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6DFE39E-2D84-0824-68A2-37CADF2F6D9F}"/>
              </a:ext>
            </a:extLst>
          </p:cNvPr>
          <p:cNvSpPr/>
          <p:nvPr/>
        </p:nvSpPr>
        <p:spPr>
          <a:xfrm>
            <a:off x="240888" y="860322"/>
            <a:ext cx="7092649" cy="2064621"/>
          </a:xfrm>
          <a:prstGeom prst="rect">
            <a:avLst/>
          </a:prstGeom>
          <a:noFill/>
          <a:ln w="28575"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6CDC20-1DDF-F39E-671F-B9E548A4DB74}"/>
              </a:ext>
            </a:extLst>
          </p:cNvPr>
          <p:cNvSpPr txBox="1"/>
          <p:nvPr/>
        </p:nvSpPr>
        <p:spPr>
          <a:xfrm>
            <a:off x="209647" y="485694"/>
            <a:ext cx="2556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ingestion layer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F5796B5-A1D4-8701-ABA0-27B1950BED0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19664" y="971043"/>
            <a:ext cx="406631" cy="4066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AE63CB-5855-7B00-ED2C-19BEAE7799B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7573" y="962659"/>
            <a:ext cx="481781" cy="48178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6D17D5C-B3D9-AF65-0787-8B84393A04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6907" y="1983318"/>
            <a:ext cx="424242" cy="42424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4CA8A68-6F0D-9468-EB41-A34FDD0ED2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4308" y="2001915"/>
            <a:ext cx="361497" cy="36149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CC197E3-88F5-C4F9-CBE6-4BD87F4F59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400" y="1983318"/>
            <a:ext cx="451973" cy="45197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1C4322A-6037-FBF6-5430-D47690DFEB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7141" y="1869468"/>
            <a:ext cx="509254" cy="50925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2EC0E59-C266-B20A-263F-204C4C267E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3266" y="2064764"/>
            <a:ext cx="376560" cy="37656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62CA043-B31B-D97F-6207-F1EF1F0262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6273" y="1737003"/>
            <a:ext cx="390365" cy="39036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256B9D4-753A-EF2F-7126-EA0BB0C2D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8102" y="1935434"/>
            <a:ext cx="506000" cy="5060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79E8351-6ACB-0D6A-F525-8AD39DA40EDA}"/>
              </a:ext>
            </a:extLst>
          </p:cNvPr>
          <p:cNvSpPr txBox="1"/>
          <p:nvPr/>
        </p:nvSpPr>
        <p:spPr>
          <a:xfrm>
            <a:off x="2652231" y="1005081"/>
            <a:ext cx="25889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Asset Management System(AMS)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968E37E-0460-31F9-B4D2-2181A8526FDF}"/>
              </a:ext>
            </a:extLst>
          </p:cNvPr>
          <p:cNvSpPr txBox="1"/>
          <p:nvPr/>
        </p:nvSpPr>
        <p:spPr>
          <a:xfrm>
            <a:off x="750422" y="1063494"/>
            <a:ext cx="7374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KMRL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2D35412-CD26-75CD-FBBD-E1D67F6A2F1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79843" y="916742"/>
            <a:ext cx="485553" cy="48555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B1BEAC6-BC61-7350-F418-DC489E8257D4}"/>
              </a:ext>
            </a:extLst>
          </p:cNvPr>
          <p:cNvSpPr txBox="1"/>
          <p:nvPr/>
        </p:nvSpPr>
        <p:spPr>
          <a:xfrm>
            <a:off x="5585051" y="1035297"/>
            <a:ext cx="1648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Siloed Spreadsheets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CA2F1D-6071-7718-87A3-195CE5B56CE0}"/>
              </a:ext>
            </a:extLst>
          </p:cNvPr>
          <p:cNvSpPr txBox="1"/>
          <p:nvPr/>
        </p:nvSpPr>
        <p:spPr>
          <a:xfrm>
            <a:off x="1416460" y="2390164"/>
            <a:ext cx="1109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Fitness Certificate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7144A8-5441-3842-F927-82C6DDBDEA6F}"/>
              </a:ext>
            </a:extLst>
          </p:cNvPr>
          <p:cNvSpPr txBox="1"/>
          <p:nvPr/>
        </p:nvSpPr>
        <p:spPr>
          <a:xfrm>
            <a:off x="3973753" y="2358930"/>
            <a:ext cx="1109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Cleaning &amp; Detailing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FF9661-1C76-8FB2-0104-FA624846C43B}"/>
              </a:ext>
            </a:extLst>
          </p:cNvPr>
          <p:cNvSpPr txBox="1"/>
          <p:nvPr/>
        </p:nvSpPr>
        <p:spPr>
          <a:xfrm>
            <a:off x="5281470" y="2401723"/>
            <a:ext cx="1109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Mileage Balancing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FBA102-A1F4-3D5B-4E63-20520056A857}"/>
              </a:ext>
            </a:extLst>
          </p:cNvPr>
          <p:cNvSpPr txBox="1"/>
          <p:nvPr/>
        </p:nvSpPr>
        <p:spPr>
          <a:xfrm>
            <a:off x="112587" y="2356635"/>
            <a:ext cx="1109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Branding Priorities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CCA59A-21EF-81DB-957B-B237B776D54E}"/>
              </a:ext>
            </a:extLst>
          </p:cNvPr>
          <p:cNvSpPr txBox="1"/>
          <p:nvPr/>
        </p:nvSpPr>
        <p:spPr>
          <a:xfrm>
            <a:off x="2666609" y="2381839"/>
            <a:ext cx="1109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Job Cards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D7150A1-AFDA-13E9-BE22-7C261CD1ADDE}"/>
              </a:ext>
            </a:extLst>
          </p:cNvPr>
          <p:cNvSpPr txBox="1"/>
          <p:nvPr/>
        </p:nvSpPr>
        <p:spPr>
          <a:xfrm>
            <a:off x="6206566" y="2352708"/>
            <a:ext cx="1109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Stabling Geometry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D289D81B-8FCE-901C-15D5-E2D999CB9520}"/>
              </a:ext>
            </a:extLst>
          </p:cNvPr>
          <p:cNvCxnSpPr>
            <a:cxnSpLocks/>
            <a:stCxn id="16" idx="2"/>
            <a:endCxn id="36" idx="0"/>
          </p:cNvCxnSpPr>
          <p:nvPr/>
        </p:nvCxnSpPr>
        <p:spPr>
          <a:xfrm rot="5400000">
            <a:off x="1958161" y="1370615"/>
            <a:ext cx="557760" cy="571878"/>
          </a:xfrm>
          <a:prstGeom prst="bentConnector3">
            <a:avLst>
              <a:gd name="adj1" fmla="val 3766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3FA1D25E-10AF-934C-32C9-6619D5600ECF}"/>
              </a:ext>
            </a:extLst>
          </p:cNvPr>
          <p:cNvCxnSpPr>
            <a:cxnSpLocks/>
            <a:stCxn id="16" idx="2"/>
            <a:endCxn id="35" idx="0"/>
          </p:cNvCxnSpPr>
          <p:nvPr/>
        </p:nvCxnSpPr>
        <p:spPr>
          <a:xfrm rot="16200000" flipH="1">
            <a:off x="2692554" y="1208100"/>
            <a:ext cx="359329" cy="698476"/>
          </a:xfrm>
          <a:prstGeom prst="bentConnector3">
            <a:avLst>
              <a:gd name="adj1" fmla="val 5273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B763F718-2CF2-D1B4-804A-2F4382C385D1}"/>
              </a:ext>
            </a:extLst>
          </p:cNvPr>
          <p:cNvCxnSpPr>
            <a:cxnSpLocks/>
            <a:stCxn id="16" idx="2"/>
            <a:endCxn id="33" idx="0"/>
          </p:cNvCxnSpPr>
          <p:nvPr/>
        </p:nvCxnSpPr>
        <p:spPr>
          <a:xfrm rot="16200000" flipH="1">
            <a:off x="3261477" y="639177"/>
            <a:ext cx="491794" cy="1968788"/>
          </a:xfrm>
          <a:prstGeom prst="bentConnector3">
            <a:avLst>
              <a:gd name="adj1" fmla="val 4000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85E02BF8-D341-AFEB-538C-41BF2C137A3E}"/>
              </a:ext>
            </a:extLst>
          </p:cNvPr>
          <p:cNvCxnSpPr>
            <a:cxnSpLocks/>
            <a:stCxn id="16" idx="2"/>
            <a:endCxn id="31" idx="0"/>
          </p:cNvCxnSpPr>
          <p:nvPr/>
        </p:nvCxnSpPr>
        <p:spPr>
          <a:xfrm rot="16200000" flipH="1">
            <a:off x="3851898" y="48755"/>
            <a:ext cx="624241" cy="3282077"/>
          </a:xfrm>
          <a:prstGeom prst="bentConnector3">
            <a:avLst>
              <a:gd name="adj1" fmla="val 2952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1E383D7E-6D8C-2843-4CDB-CA656A35CADB}"/>
              </a:ext>
            </a:extLst>
          </p:cNvPr>
          <p:cNvCxnSpPr>
            <a:cxnSpLocks/>
            <a:endCxn id="32" idx="0"/>
          </p:cNvCxnSpPr>
          <p:nvPr/>
        </p:nvCxnSpPr>
        <p:spPr>
          <a:xfrm rot="5400000">
            <a:off x="413099" y="1747027"/>
            <a:ext cx="472579" cy="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10C3A793-82B6-7C8B-FF68-805CEFE3370E}"/>
              </a:ext>
            </a:extLst>
          </p:cNvPr>
          <p:cNvCxnSpPr>
            <a:cxnSpLocks/>
            <a:endCxn id="30" idx="0"/>
          </p:cNvCxnSpPr>
          <p:nvPr/>
        </p:nvCxnSpPr>
        <p:spPr>
          <a:xfrm rot="5400000">
            <a:off x="6531568" y="1689508"/>
            <a:ext cx="581270" cy="63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D54D86-71BD-B906-8B37-1F67CA7F6A5D}"/>
              </a:ext>
            </a:extLst>
          </p:cNvPr>
          <p:cNvSpPr txBox="1"/>
          <p:nvPr/>
        </p:nvSpPr>
        <p:spPr>
          <a:xfrm>
            <a:off x="343028" y="260508"/>
            <a:ext cx="23411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Rockwell Condensed" panose="02060603050405020104" pitchFamily="18" charset="0"/>
              </a:rPr>
              <a:t>Tech Mavericks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CBD824-1155-0811-1B0F-7F8BCD2BDD03}"/>
              </a:ext>
            </a:extLst>
          </p:cNvPr>
          <p:cNvSpPr txBox="1"/>
          <p:nvPr/>
        </p:nvSpPr>
        <p:spPr>
          <a:xfrm>
            <a:off x="343028" y="1012832"/>
            <a:ext cx="887963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Feasibility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Uses existing KMRL systems (Maximo, logs, cleaning rosters)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Cloud/on-premise deployment → no new hardware required initially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Incremental adoption: start manual + Maximo → later add IoT</a:t>
            </a:r>
          </a:p>
          <a:p>
            <a:endParaRPr lang="en-IN" sz="2000" dirty="0"/>
          </a:p>
          <a:p>
            <a:pPr>
              <a:buNone/>
            </a:pPr>
            <a:r>
              <a:rPr lang="en-IN" sz="2000" b="1" dirty="0"/>
              <a:t>Challenges</a:t>
            </a:r>
            <a:endParaRPr lang="en-IN" sz="2000" dirty="0"/>
          </a:p>
          <a:p>
            <a:pPr>
              <a:buFont typeface="+mj-lt"/>
              <a:buAutoNum type="arabicPeriod"/>
            </a:pPr>
            <a:r>
              <a:rPr lang="en-IN" sz="2000" dirty="0"/>
              <a:t>Data Integration – multiple formats (Excel, WhatsApp, PDFs)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Data Quality – updates may be delayed/inconsistent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Adoption Resistance – staff may hesitate to trust AI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Real-Time Need – induction planning window is short (21:00–23:00)</a:t>
            </a:r>
          </a:p>
          <a:p>
            <a:endParaRPr lang="en-IN" sz="2000" dirty="0"/>
          </a:p>
          <a:p>
            <a:pPr>
              <a:buNone/>
            </a:pPr>
            <a:r>
              <a:rPr lang="en-IN" sz="2000" b="1" dirty="0"/>
              <a:t>Strategies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Build ETL pipelines (auto-clean data nightly)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Allow manual overrides in dashboard for flexibility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Make AI explainable so staff can trust decisions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0C39BD-E85D-9B44-5F86-40FF72FC3CE0}"/>
              </a:ext>
            </a:extLst>
          </p:cNvPr>
          <p:cNvSpPr txBox="1"/>
          <p:nvPr/>
        </p:nvSpPr>
        <p:spPr>
          <a:xfrm>
            <a:off x="343028" y="231487"/>
            <a:ext cx="23411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Rockwell Condensed" panose="02060603050405020104" pitchFamily="18" charset="0"/>
              </a:rPr>
              <a:t>Tech Mavericks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76ACF3-3E8A-0870-52AF-601AFA7D8122}"/>
              </a:ext>
            </a:extLst>
          </p:cNvPr>
          <p:cNvSpPr txBox="1"/>
          <p:nvPr/>
        </p:nvSpPr>
        <p:spPr>
          <a:xfrm>
            <a:off x="717755" y="1020969"/>
            <a:ext cx="912361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Impact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Supports 99.5% punctuality KPI by avoiding last-minute train withdrawals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Balances mileage to extend asset life and reduce maintenance costs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Ensures branding compliance, protecting ad revenue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Reduces depot shunting, lowering energy use and improving safety</a:t>
            </a:r>
          </a:p>
          <a:p>
            <a:endParaRPr lang="en-US" sz="2000" dirty="0"/>
          </a:p>
          <a:p>
            <a:pPr>
              <a:buNone/>
            </a:pPr>
            <a:r>
              <a:rPr lang="en-US" sz="2000" b="1" dirty="0"/>
              <a:t>Benefits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Economic:</a:t>
            </a:r>
            <a:r>
              <a:rPr lang="en-US" sz="2000" dirty="0"/>
              <a:t> Lower lifecycle costs, SLA compliance, and revenue protection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Operational:</a:t>
            </a:r>
            <a:r>
              <a:rPr lang="en-US" sz="2000" dirty="0"/>
              <a:t> Reliable train induction and reduced staff workload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Environmental:</a:t>
            </a:r>
            <a:r>
              <a:rPr lang="en-US" sz="2000" dirty="0"/>
              <a:t> Energy savings from optimized depot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Passenger:</a:t>
            </a:r>
            <a:r>
              <a:rPr lang="en-US" sz="2000" dirty="0"/>
              <a:t> Cleaner, safer, and more reliable trains for a better travel experience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24232" y="1667551"/>
            <a:ext cx="938530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Railway Operations: Research Railway Fleet Management and Rolling Stock Optimization for domain knowledge.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AI Algorithm: Study Multi-Criteria Decision-Making (MCDM) and Weighted Sum Models for the core ranking logic.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Technology: Review documentation for Python (Flask, Pandas), PostgreSQL, and React.js for implementation.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Sources: Use academic databases like IEEE Xplore and Google Scholar for relevant research papers.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5D01BF-A673-C053-87A9-4FC7A81E5AFE}"/>
              </a:ext>
            </a:extLst>
          </p:cNvPr>
          <p:cNvSpPr txBox="1"/>
          <p:nvPr/>
        </p:nvSpPr>
        <p:spPr>
          <a:xfrm>
            <a:off x="141514" y="231487"/>
            <a:ext cx="23411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Rockwell Condensed" panose="02060603050405020104" pitchFamily="18" charset="0"/>
              </a:rPr>
              <a:t>Tech Mavericks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8830</TotalTime>
  <Words>679</Words>
  <Application>Microsoft Office PowerPoint</Application>
  <PresentationFormat>Widescreen</PresentationFormat>
  <Paragraphs>124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Rockwell Condensed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Kishore Babu</cp:lastModifiedBy>
  <cp:revision>154</cp:revision>
  <dcterms:created xsi:type="dcterms:W3CDTF">2013-12-12T18:46:50Z</dcterms:created>
  <dcterms:modified xsi:type="dcterms:W3CDTF">2025-09-13T04:54:26Z</dcterms:modified>
  <cp:category/>
</cp:coreProperties>
</file>